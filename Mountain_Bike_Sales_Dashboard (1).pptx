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1C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7B2D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Accessories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61.8</c:v>
                </c:pt>
                <c:pt idx="1">
                  <c:v>15.1</c:v>
                </c:pt>
                <c:pt idx="2">
                  <c:v>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E040F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Accessories</c:v>
                </c:pt>
                <c:pt idx="2">
                  <c:v>Clothing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20.5</c:v>
                </c:pt>
                <c:pt idx="1">
                  <c:v>8.9</c:v>
                </c:pt>
                <c:pt idx="2">
                  <c:v>2.8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1E35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d4205c7-ddb9-4cc9-a9ba-9c5af717e7fb}"/>
      </c:ext>
    </c:extLst>
  </c:chart>
  <c:spPr>
    <a:solidFill>
      <a:srgbClr val="1E1E3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2D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D145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80E4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Australia</c:v>
                </c:pt>
                <c:pt idx="2">
                  <c:v>United Kingdom</c:v>
                </c:pt>
                <c:pt idx="3">
                  <c:v>Germany</c:v>
                </c:pt>
                <c:pt idx="4">
                  <c:v>France</c:v>
                </c:pt>
                <c:pt idx="5">
                  <c:v>Canada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21.3</c:v>
                </c:pt>
                <c:pt idx="2">
                  <c:v>10.6</c:v>
                </c:pt>
                <c:pt idx="3">
                  <c:v>9</c:v>
                </c:pt>
                <c:pt idx="4">
                  <c:v>8.4</c:v>
                </c:pt>
                <c:pt idx="5">
                  <c:v>7.9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1E35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a847e80-d188-4c44-9fb0-00dc75e24661}"/>
      </c:ext>
    </c:extLst>
  </c:chart>
  <c:spPr>
    <a:solidFill>
      <a:srgbClr val="1E1E3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2D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D145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80E4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40F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B47B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E24A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C6BC0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Tires &amp; Tubes</c:v>
                </c:pt>
                <c:pt idx="1">
                  <c:v>Bottles &amp; Cages</c:v>
                </c:pt>
                <c:pt idx="2">
                  <c:v>Helmets</c:v>
                </c:pt>
                <c:pt idx="3">
                  <c:v>Jerseys</c:v>
                </c:pt>
                <c:pt idx="4">
                  <c:v>Caps</c:v>
                </c:pt>
                <c:pt idx="5">
                  <c:v>Fenders</c:v>
                </c:pt>
                <c:pt idx="6">
                  <c:v>Gloves</c:v>
                </c:pt>
                <c:pt idx="7">
                  <c:v>Cleaners</c:v>
                </c:pt>
                <c:pt idx="8">
                  <c:v>Shorts</c:v>
                </c:pt>
                <c:pt idx="9">
                  <c:v>Hydration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514051</c:v>
                </c:pt>
                <c:pt idx="1">
                  <c:v>241726</c:v>
                </c:pt>
                <c:pt idx="2">
                  <c:v>181606</c:v>
                </c:pt>
                <c:pt idx="3">
                  <c:v>88125</c:v>
                </c:pt>
                <c:pt idx="4">
                  <c:v>67268</c:v>
                </c:pt>
                <c:pt idx="5">
                  <c:v>62138</c:v>
                </c:pt>
                <c:pt idx="6">
                  <c:v>39978</c:v>
                </c:pt>
                <c:pt idx="7">
                  <c:v>27574</c:v>
                </c:pt>
                <c:pt idx="8">
                  <c:v>27168</c:v>
                </c:pt>
                <c:pt idx="9">
                  <c:v>19914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1E35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4525db8-b879-42ee-b0af-1e586e7a26cf}"/>
      </c:ext>
    </c:extLst>
  </c:chart>
  <c:spPr>
    <a:solidFill>
      <a:srgbClr val="1E1E3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7B2D8B"/>
              </a:solidFill>
              <a:effectLst/>
            </c:spPr>
          </c:dPt>
          <c:dPt>
            <c:idx val="1"/>
            <c:bubble3D val="0"/>
            <c:spPr>
              <a:solidFill>
                <a:srgbClr val="9C27B0"/>
              </a:solidFill>
              <a:effectLst/>
            </c:spPr>
          </c:dPt>
          <c:dPt>
            <c:idx val="2"/>
            <c:bubble3D val="0"/>
            <c:spPr>
              <a:solidFill>
                <a:srgbClr val="E040F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Accessories</c:v>
                </c:pt>
                <c:pt idx="2">
                  <c:v>Clothing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20519276</c:v>
                </c:pt>
                <c:pt idx="1">
                  <c:v>8862377</c:v>
                </c:pt>
                <c:pt idx="2">
                  <c:v>2839447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8907629-494e-41fc-96e7-7175ee24c391}"/>
      </c:ext>
    </c:extLst>
  </c:chart>
  <c:spPr>
    <a:solidFill>
      <a:srgbClr val="1E1E3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per Order ($)</c:v>
                </c:pt>
              </c:strCache>
            </c:strRef>
          </c:tx>
          <c:spPr>
            <a:solidFill>
              <a:srgbClr val="7B2D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B2D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D14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40F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Bikes</c:v>
                </c:pt>
                <c:pt idx="1">
                  <c:v>Clothing</c:v>
                </c:pt>
                <c:pt idx="2">
                  <c:v>Accessories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1650</c:v>
                </c:pt>
                <c:pt idx="1">
                  <c:v>85</c:v>
                </c:pt>
                <c:pt idx="2">
                  <c:v>63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1E35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69d2e20-a94a-4a64-b033-e9ae5f9e588d}"/>
      </c:ext>
    </c:extLst>
  </c:chart>
  <c:spPr>
    <a:solidFill>
      <a:srgbClr val="1E1E3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9C27B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1E63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699583</c:v>
                </c:pt>
                <c:pt idx="1">
                  <c:v>645733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1E35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b080861-1a02-4748-ad44-703aa4c7ff69}"/>
      </c:ext>
    </c:extLst>
  </c:chart>
  <c:spPr>
    <a:solidFill>
      <a:srgbClr val="1E1E3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7B2D8B"/>
              </a:solidFill>
              <a:effectLst/>
            </c:spPr>
          </c:dPt>
          <c:dPt>
            <c:idx val="1"/>
            <c:bubble3D val="0"/>
            <c:spPr>
              <a:solidFill>
                <a:srgbClr val="C2185B"/>
              </a:solidFill>
              <a:effectLst/>
            </c:spPr>
          </c:dPt>
          <c:dPt>
            <c:idx val="2"/>
            <c:bubble3D val="0"/>
            <c:spPr>
              <a:solidFill>
                <a:srgbClr val="E040FB"/>
              </a:solidFill>
              <a:effectLst/>
            </c:spPr>
          </c:dPt>
          <c:dPt>
            <c:idx val="3"/>
            <c:bubble3D val="0"/>
            <c:spPr>
              <a:solidFill>
                <a:srgbClr val="FFB30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Adults (35-64)</c:v>
                </c:pt>
                <c:pt idx="1">
                  <c:v>Young Adults (25-34)</c:v>
                </c:pt>
                <c:pt idx="2">
                  <c:v>Youth (&lt;25)</c:v>
                </c:pt>
                <c:pt idx="3">
                  <c:v>Seniors (64+)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42584153</c:v>
                </c:pt>
                <c:pt idx="1">
                  <c:v>30655614</c:v>
                </c:pt>
                <c:pt idx="2">
                  <c:v>11723199</c:v>
                </c:pt>
                <c:pt idx="3">
                  <c:v>308042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12b90fc-2494-4720-bd24-b7c421406d49}"/>
      </c:ext>
    </c:extLst>
  </c:chart>
  <c:spPr>
    <a:solidFill>
      <a:srgbClr val="1E1E3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($M)</c:v>
                </c:pt>
              </c:strCache>
            </c:strRef>
          </c:tx>
          <c:spPr>
            <a:solidFill>
              <a:srgbClr val="E040F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040F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Clothing</c:v>
                </c:pt>
                <c:pt idx="1">
                  <c:v>Accessories</c:v>
                </c:pt>
                <c:pt idx="2">
                  <c:v>Bikes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</c:v>
                </c:pt>
                <c:pt idx="1">
                  <c:v>8.9</c:v>
                </c:pt>
                <c:pt idx="2">
                  <c:v>20.5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CCCD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1E35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46d078f-bd87-4321-8c5a-c8b60deeb2df}"/>
      </c:ext>
    </c:extLst>
  </c:chart>
  <c:spPr>
    <a:solidFill>
      <a:srgbClr val="1E1E3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64592" cy="499719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548640"/>
            <a:ext cx="2286000" cy="2286000"/>
          </a:xfrm>
          <a:prstGeom prst="ellipse">
            <a:avLst/>
          </a:prstGeom>
          <a:solidFill>
            <a:srgbClr val="9C27B0">
              <a:alpha val="25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914400"/>
            <a:ext cx="1554480" cy="1534160"/>
          </a:xfrm>
          <a:prstGeom prst="ellipse">
            <a:avLst/>
          </a:prstGeom>
          <a:ln w="12700" cmpd="sng">
            <a:solidFill>
              <a:srgbClr val="B41CAB"/>
            </a:solidFill>
            <a:prstDash val="soli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US">
                <a:solidFill>
                  <a:schemeClr val="bg1"/>
                </a:solidFill>
              </a:rPr>
              <a:t>         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Mountain Bike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Accessories Sales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B86FC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Analysis Dashboard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Comprehensive Business Intelligence Report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Powered by Power BI  |  Data-Driven Decision Making</a:t>
            </a:r>
            <a:endParaRPr lang="en-US" sz="1300" dirty="0"/>
          </a:p>
        </p:txBody>
      </p:sp>
      <p:sp>
        <p:nvSpPr>
          <p:cNvPr id="12" name="Shape 10"/>
          <p:cNvSpPr/>
          <p:nvPr>
            <p:custDataLst>
              <p:tags r:id="rId1"/>
            </p:custDataLst>
          </p:nvPr>
        </p:nvSpPr>
        <p:spPr>
          <a:xfrm>
            <a:off x="457200" y="42976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2"/>
            </p:custDataLst>
          </p:nvPr>
        </p:nvSpPr>
        <p:spPr>
          <a:xfrm>
            <a:off x="502920" y="4297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112K Customers</a:t>
            </a:r>
            <a:endParaRPr lang="en-US" sz="1100" dirty="0"/>
          </a:p>
        </p:txBody>
      </p:sp>
      <p:sp>
        <p:nvSpPr>
          <p:cNvPr id="14" name="Shape 12"/>
          <p:cNvSpPr/>
          <p:nvPr>
            <p:custDataLst>
              <p:tags r:id="rId3"/>
            </p:custDataLst>
          </p:nvPr>
        </p:nvSpPr>
        <p:spPr>
          <a:xfrm>
            <a:off x="2606040" y="42976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2651760" y="4297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$85M Revenue</a:t>
            </a:r>
            <a:endParaRPr lang="en-US" sz="1100" dirty="0"/>
          </a:p>
        </p:txBody>
      </p:sp>
      <p:sp>
        <p:nvSpPr>
          <p:cNvPr id="16" name="Shape 14"/>
          <p:cNvSpPr/>
          <p:nvPr>
            <p:custDataLst>
              <p:tags r:id="rId5"/>
            </p:custDataLst>
          </p:nvPr>
        </p:nvSpPr>
        <p:spPr>
          <a:xfrm>
            <a:off x="4754880" y="42976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>
            <p:custDataLst>
              <p:tags r:id="rId6"/>
            </p:custDataLst>
          </p:nvPr>
        </p:nvSpPr>
        <p:spPr>
          <a:xfrm>
            <a:off x="4800600" y="4297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1.3M Units Sold</a:t>
            </a:r>
            <a:endParaRPr lang="en-US" sz="1100" dirty="0"/>
          </a:p>
        </p:txBody>
      </p:sp>
      <p:sp>
        <p:nvSpPr>
          <p:cNvPr id="18" name="Shape 16"/>
          <p:cNvSpPr/>
          <p:nvPr>
            <p:custDataLst>
              <p:tags r:id="rId7"/>
            </p:custDataLst>
          </p:nvPr>
        </p:nvSpPr>
        <p:spPr>
          <a:xfrm>
            <a:off x="6903720" y="42976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8"/>
            </p:custDataLst>
          </p:nvPr>
        </p:nvSpPr>
        <p:spPr>
          <a:xfrm>
            <a:off x="6949440" y="4297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38% Profit Margin</a:t>
            </a:r>
            <a:endParaRPr lang="en-US" sz="1100" dirty="0"/>
          </a:p>
        </p:txBody>
      </p:sp>
      <p:sp>
        <p:nvSpPr>
          <p:cNvPr id="20" name="Text Box 19"/>
          <p:cNvSpPr txBox="1"/>
          <p:nvPr/>
        </p:nvSpPr>
        <p:spPr>
          <a:xfrm>
            <a:off x="4572000" y="3342640"/>
            <a:ext cx="4572000" cy="733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>
                <a:solidFill>
                  <a:schemeClr val="bg1"/>
                </a:solidFill>
                <a:sym typeface="+mn-ea"/>
              </a:rPr>
              <a:t>                            </a:t>
            </a:r>
            <a:endParaRPr lang="en-US">
              <a:solidFill>
                <a:schemeClr val="bg1"/>
              </a:solidFill>
              <a:sym typeface="+mn-ea"/>
            </a:endParaRPr>
          </a:p>
          <a:p>
            <a:r>
              <a:rPr lang="en-US">
                <a:solidFill>
                  <a:schemeClr val="bg1"/>
                </a:solidFill>
                <a:sym typeface="+mn-ea"/>
              </a:rPr>
              <a:t>                                PRESENTED BY : SUGANYA M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4124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 &amp; Objectives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43584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261872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682496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Data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84832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84832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Performance Indicators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05456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523744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vs Profit by Category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26080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94436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Country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346704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46704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364992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Sub-Category Sales Performance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67328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67328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785616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Category-wise Profit Comparison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87952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87952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206240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Order Value by Category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608576"/>
            <a:ext cx="3840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608576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626864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Performance Analysis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822960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822960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841248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Purchasing Behavior by Gender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1243584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243584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126187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Group Revenue Contribution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1664208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664208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1682496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of Cost on Profitability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2084832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084832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2103120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State-wise Revenue by Country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63440" y="2505456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505456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2523744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Overview Page 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63440" y="2926080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2926080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2944368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Overview Page 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63440" y="3346704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346704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20640" y="336499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 Architecture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63440" y="3767328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767328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20640" y="3785616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663440" y="4187952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4187952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19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20640" y="4206240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663440" y="4608576"/>
            <a:ext cx="384048" cy="329184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4608576"/>
            <a:ext cx="3840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120640" y="4626864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2336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FB"/>
                </a:solidFill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657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analyze sales performance, customer demographics, product trends, and profitability using historical bike accessories sales data to support strategic business decisions.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B86FC"/>
                </a:solidFill>
              </a:rPr>
              <a:t>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365760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113,036 sales transactions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6 Countries analyzed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3 Product Categories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Years: 2013 to 2016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06240" cy="4023360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0FB"/>
                </a:solidFill>
              </a:rPr>
              <a:t>KEY ANALYSIS AREAS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438912"/>
          </a:xfrm>
          <a:prstGeom prst="rect">
            <a:avLst/>
          </a:prstGeom>
          <a:solidFill>
            <a:srgbClr val="7B2D8B">
              <a:alpha val="5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3749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&amp; Profit Performance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01952"/>
            <a:ext cx="3931920" cy="438912"/>
          </a:xfrm>
          <a:prstGeom prst="rect">
            <a:avLst/>
          </a:prstGeom>
          <a:solidFill>
            <a:srgbClr val="7B2D8B">
              <a:alpha val="5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901952"/>
            <a:ext cx="3749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Geographic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432304"/>
            <a:ext cx="3931920" cy="438912"/>
          </a:xfrm>
          <a:prstGeom prst="rect">
            <a:avLst/>
          </a:prstGeom>
          <a:solidFill>
            <a:srgbClr val="7B2D8B">
              <a:alpha val="5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432304"/>
            <a:ext cx="3749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Demographics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62656"/>
            <a:ext cx="3931920" cy="438912"/>
          </a:xfrm>
          <a:prstGeom prst="rect">
            <a:avLst/>
          </a:prstGeom>
          <a:solidFill>
            <a:srgbClr val="7B2D8B">
              <a:alpha val="5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962656"/>
            <a:ext cx="3749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&amp; Sub-Category Trends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493008"/>
            <a:ext cx="3931920" cy="438912"/>
          </a:xfrm>
          <a:prstGeom prst="rect">
            <a:avLst/>
          </a:prstGeom>
          <a:solidFill>
            <a:srgbClr val="7B2D8B">
              <a:alpha val="5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493008"/>
            <a:ext cx="3749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Profitability &amp; Cost Analysis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4023360"/>
            <a:ext cx="3931920" cy="438912"/>
          </a:xfrm>
          <a:prstGeom prst="rect">
            <a:avLst/>
          </a:prstGeom>
          <a:solidFill>
            <a:srgbClr val="7B2D8B">
              <a:alpha val="5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023360"/>
            <a:ext cx="3749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Monitoring &amp; Benchmarking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Problem Statements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</a:rPr>
              <a:t>Main 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How can Mountain bike accessories sales data be analyzed to evaluate revenue performance, identify top-performing products and regions, understand customer buying patterns, and improve overall profitability?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320040" cy="38404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91640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71907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country generates the highest revenue?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320040" cy="38404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21992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249424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product category contributes the most profit?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52344"/>
            <a:ext cx="320040" cy="38404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52344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779776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sub-category has the highest sales volume?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82696"/>
            <a:ext cx="320040" cy="38404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82696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31012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age group contributes the most revenue?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13048"/>
            <a:ext cx="320040" cy="38404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813048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84048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there a significant difference in purchasing behavior based on gender?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343400"/>
            <a:ext cx="320040" cy="38404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343400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37083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average revenue per order?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691640"/>
            <a:ext cx="320040" cy="384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691640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171907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states perform better within each country?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221992"/>
            <a:ext cx="320040" cy="384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221992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47488" y="2249424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underperforming product categories.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752344"/>
            <a:ext cx="320040" cy="384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752344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47488" y="2779776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does cost impact overall profitability?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282696"/>
            <a:ext cx="320040" cy="384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282696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47488" y="331012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revenue vs profit across categories.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813048"/>
            <a:ext cx="320040" cy="384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813048"/>
            <a:ext cx="320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47488" y="384048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key performance indicators affecting business growth.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Dataset &amp; Data Model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840480" cy="411480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40FB"/>
                </a:solidFill>
              </a:rPr>
              <a:t>Bike_Sales_Dataset Columns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657600" cy="347472"/>
          </a:xfrm>
          <a:prstGeom prst="rect">
            <a:avLst/>
          </a:prstGeom>
          <a:solidFill>
            <a:srgbClr val="2A2A4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B86FC"/>
                </a:solidFill>
              </a:rPr>
              <a:t>Date, Day, Month, Year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280160"/>
            <a:ext cx="1691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Time dimension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3657600" cy="347472"/>
          </a:xfrm>
          <a:prstGeom prst="rect">
            <a:avLst/>
          </a:prstGeom>
          <a:solidFill>
            <a:srgbClr val="2323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82496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B86FC"/>
                </a:solidFill>
              </a:rPr>
              <a:t>Customer_Age, Age_Group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1682496"/>
            <a:ext cx="1691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Demographics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3657600" cy="347472"/>
          </a:xfrm>
          <a:prstGeom prst="rect">
            <a:avLst/>
          </a:prstGeom>
          <a:solidFill>
            <a:srgbClr val="2A2A4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84832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B86FC"/>
                </a:solidFill>
              </a:rPr>
              <a:t>Customer_Gender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084832"/>
            <a:ext cx="1691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Gender (M/F)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3657600" cy="347472"/>
          </a:xfrm>
          <a:prstGeom prst="rect">
            <a:avLst/>
          </a:prstGeom>
          <a:solidFill>
            <a:srgbClr val="2323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87168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B86FC"/>
                </a:solidFill>
              </a:rPr>
              <a:t>Country, State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487168"/>
            <a:ext cx="1691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Geographic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3657600" cy="347472"/>
          </a:xfrm>
          <a:prstGeom prst="rect">
            <a:avLst/>
          </a:prstGeom>
          <a:solidFill>
            <a:srgbClr val="2A2A4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89504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B86FC"/>
                </a:solidFill>
              </a:rPr>
              <a:t>Product_Category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889504"/>
            <a:ext cx="1691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Bikes/Accessories/Clothing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73552"/>
            <a:ext cx="3657600" cy="347472"/>
          </a:xfrm>
          <a:prstGeom prst="rect">
            <a:avLst/>
          </a:prstGeom>
          <a:solidFill>
            <a:srgbClr val="2323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91840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B86FC"/>
                </a:solidFill>
              </a:rPr>
              <a:t>Sub_Category, Product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3291840"/>
            <a:ext cx="1691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Product detail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3657600" cy="347472"/>
          </a:xfrm>
          <a:prstGeom prst="rect">
            <a:avLst/>
          </a:prstGeom>
          <a:solidFill>
            <a:srgbClr val="2A2A4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694176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B86FC"/>
                </a:solidFill>
              </a:rPr>
              <a:t>Order_Quantity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3694176"/>
            <a:ext cx="1691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Units ordered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078224"/>
            <a:ext cx="3657600" cy="347472"/>
          </a:xfrm>
          <a:prstGeom prst="rect">
            <a:avLst/>
          </a:prstGeom>
          <a:solidFill>
            <a:srgbClr val="23233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96512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B86FC"/>
                </a:solidFill>
              </a:rPr>
              <a:t>Unit_Cost, Unit_Price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4096512"/>
            <a:ext cx="1691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Pricing info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480560"/>
            <a:ext cx="3657600" cy="347472"/>
          </a:xfrm>
          <a:prstGeom prst="rect">
            <a:avLst/>
          </a:prstGeom>
          <a:solidFill>
            <a:srgbClr val="2A2A4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98848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B86FC"/>
                </a:solidFill>
              </a:rPr>
              <a:t>Profit, Cost, Revenue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4498848"/>
            <a:ext cx="1691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Financial metrics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0" y="777240"/>
            <a:ext cx="4480560" cy="4114800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480560" y="82296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40FB"/>
                </a:solidFill>
              </a:rPr>
              <a:t>Star Schema Data Model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0" y="1463040"/>
            <a:ext cx="2194560" cy="1005840"/>
          </a:xfrm>
          <a:prstGeom prst="rect">
            <a:avLst/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0" y="1463040"/>
            <a:ext cx="21945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 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Bike_Sales_Dataset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2651760"/>
            <a:ext cx="1828800" cy="822960"/>
          </a:xfrm>
          <a:prstGeom prst="rect">
            <a:avLst/>
          </a:prstGeom>
          <a:solidFill>
            <a:srgbClr val="C2185B">
              <a:alpha val="70000"/>
            </a:srgbClr>
          </a:solidFill>
          <a:ln w="1270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40880" y="265176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Dim_Product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(Product, Category,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Sub-Category)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3566160"/>
            <a:ext cx="1828800" cy="822960"/>
          </a:xfrm>
          <a:prstGeom prst="rect">
            <a:avLst/>
          </a:prstGeom>
          <a:solidFill>
            <a:srgbClr val="C2185B">
              <a:alpha val="70000"/>
            </a:srgbClr>
          </a:solidFill>
          <a:ln w="1270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669280" y="356616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Dim_Date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(Date, Month, Year)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80560" y="2651760"/>
            <a:ext cx="1828800" cy="822960"/>
          </a:xfrm>
          <a:prstGeom prst="rect">
            <a:avLst/>
          </a:prstGeom>
          <a:solidFill>
            <a:srgbClr val="C2185B">
              <a:alpha val="70000"/>
            </a:srgbClr>
          </a:solidFill>
          <a:ln w="1270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480560" y="265176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Dim_Geography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(Country, Country_ID)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80560" y="4663440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DD"/>
                </a:solidFill>
              </a:rPr>
              <a:t>Star Schema: Bike_Sales (Fact) linked to Dim_Product, Dim_Date, Dim_Geography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Performance Indicators (KPIs)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192024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411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Customers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112K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DD"/>
                </a:solidFill>
              </a:rPr>
              <a:t>Unique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822960"/>
            <a:ext cx="2011680" cy="1920240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822960"/>
            <a:ext cx="2011680" cy="4114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8229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32888" y="132588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$85.3M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32888" y="21945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DD"/>
                </a:solidFill>
              </a:rPr>
              <a:t>All categories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822960"/>
            <a:ext cx="2011680" cy="1920240"/>
          </a:xfrm>
          <a:prstGeom prst="rect">
            <a:avLst/>
          </a:prstGeom>
          <a:solidFill>
            <a:srgbClr val="2D2D44"/>
          </a:solidFill>
          <a:ln w="1270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822960"/>
            <a:ext cx="2011680" cy="41148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8229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0016" y="132588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$32.2M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0016" y="21945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DD"/>
                </a:solidFill>
              </a:rPr>
              <a:t>Net profit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75704" y="822960"/>
            <a:ext cx="2011680" cy="1920240"/>
          </a:xfrm>
          <a:prstGeom prst="rect">
            <a:avLst/>
          </a:prstGeom>
          <a:solidFill>
            <a:srgbClr val="2D2D44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822960"/>
            <a:ext cx="201168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8229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Cost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67144" y="132588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$53.1M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67144" y="21945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DD"/>
                </a:solidFill>
              </a:rPr>
              <a:t>Operating cost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2011680" cy="1920240"/>
          </a:xfrm>
          <a:prstGeom prst="rect">
            <a:avLst/>
          </a:prstGeom>
          <a:solidFill>
            <a:srgbClr val="2D2D44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2011680" cy="41148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718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Units Sold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47472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1.3M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65760" y="4343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DD"/>
                </a:solidFill>
              </a:rPr>
              <a:t>Order quantity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41448" y="2971800"/>
            <a:ext cx="2011680" cy="1920240"/>
          </a:xfrm>
          <a:prstGeom prst="rect">
            <a:avLst/>
          </a:prstGeom>
          <a:solidFill>
            <a:srgbClr val="2D2D44"/>
          </a:solidFill>
          <a:ln w="12700">
            <a:solidFill>
              <a:srgbClr val="0079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41448" y="2971800"/>
            <a:ext cx="2011680" cy="4114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32888" y="29718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Profit Margin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32888" y="347472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37.8%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532888" y="4343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DD"/>
                </a:solidFill>
              </a:rPr>
              <a:t>Profit/Revenue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08576" y="2971800"/>
            <a:ext cx="2011680" cy="1920240"/>
          </a:xfrm>
          <a:prstGeom prst="rect">
            <a:avLst/>
          </a:prstGeom>
          <a:solidFill>
            <a:srgbClr val="2D2D44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2971800"/>
            <a:ext cx="20116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29718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Country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0016" y="347472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USA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700016" y="4343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DD"/>
                </a:solidFill>
              </a:rPr>
              <a:t>$28M revenue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75704" y="2971800"/>
            <a:ext cx="2011680" cy="1920240"/>
          </a:xfrm>
          <a:prstGeom prst="rect">
            <a:avLst/>
          </a:prstGeom>
          <a:solidFill>
            <a:srgbClr val="2D2D44"/>
          </a:solidFill>
          <a:ln w="12700">
            <a:solidFill>
              <a:srgbClr val="82771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75704" y="2971800"/>
            <a:ext cx="2011680" cy="411480"/>
          </a:xfrm>
          <a:prstGeom prst="rect">
            <a:avLst/>
          </a:prstGeom>
          <a:solidFill>
            <a:srgbClr val="827717"/>
          </a:solidFill>
          <a:ln w="12700">
            <a:solidFill>
              <a:srgbClr val="8277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67144" y="29718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Product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67144" y="3474720"/>
            <a:ext cx="1828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Water Bottle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867144" y="4343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DD"/>
                </a:solidFill>
              </a:rPr>
              <a:t>164K units sold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Revenue vs Profit by Product Category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3152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777240"/>
            <a:ext cx="2926080" cy="123444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8229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Bikes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17043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Revenue: $61.8M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14447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86FC"/>
                </a:solidFill>
              </a:rPr>
              <a:t>Profit: $20.5M  |  Margin: 33.2%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148840"/>
            <a:ext cx="2926080" cy="1234440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1945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Accessories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35040" y="254203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Revenue: $15.1M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28163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86FC"/>
                </a:solidFill>
              </a:rPr>
              <a:t>Profit: $8.9M  |  Margin: 58.6%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3520440"/>
            <a:ext cx="2926080" cy="1234440"/>
          </a:xfrm>
          <a:prstGeom prst="rect">
            <a:avLst/>
          </a:prstGeom>
          <a:solidFill>
            <a:srgbClr val="2D2D44"/>
          </a:solidFill>
          <a:ln w="1270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35661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Clothing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391363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Revenue: $8.4M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41879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86FC"/>
                </a:solidFill>
              </a:rPr>
              <a:t>Profit: $2.8M  |  Margin: 33.9%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Highest Revenue by Country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31520"/>
          <a:ext cx="59436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914400"/>
            <a:ext cx="228600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0" y="960120"/>
            <a:ext cx="2103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40FB"/>
                </a:solidFill>
              </a:rPr>
              <a:t>United States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75120" y="1307592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Revenue: $28.0M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0" y="1581912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86FC"/>
                </a:solidFill>
              </a:rPr>
              <a:t>Share: 32.8%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0" y="2212848"/>
            <a:ext cx="228600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2258568"/>
            <a:ext cx="2103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40FB"/>
                </a:solidFill>
              </a:rPr>
              <a:t>Australia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75120" y="26060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Revenue: $21.3M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75120" y="28803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86FC"/>
                </a:solidFill>
              </a:rPr>
              <a:t>Share: 25.0%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3511296"/>
            <a:ext cx="228600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3557016"/>
            <a:ext cx="2103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40FB"/>
                </a:solidFill>
              </a:rPr>
              <a:t>United Kingdom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75120" y="3904488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Revenue: $10.6M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4178808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86FC"/>
                </a:solidFill>
              </a:rPr>
              <a:t>Share: 12.5%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0" y="420624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</a:rPr>
              <a:t>Top Performing Country: United States ($28M)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Sub-Category Sales Performance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31520"/>
          <a:ext cx="8229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D700"/>
                </a:solidFill>
              </a:rPr>
              <a:t>Tires &amp; Tubes leads with 514K units — 38% of all accessories sold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Category-wise Profit Comparison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31520"/>
          <a:ext cx="4572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97280"/>
            <a:ext cx="3474720" cy="105156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097280"/>
            <a:ext cx="164592" cy="10515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1143000"/>
            <a:ext cx="3017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Bikes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77840" y="1481328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</a:rPr>
              <a:t>Profit: $20.5M  |  Share: 63.7%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0" y="2331720"/>
            <a:ext cx="3474720" cy="1051560"/>
          </a:xfrm>
          <a:prstGeom prst="rect">
            <a:avLst/>
          </a:prstGeom>
          <a:solidFill>
            <a:srgbClr val="2D2D44"/>
          </a:solidFill>
          <a:ln w="1270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0" y="2331720"/>
            <a:ext cx="164592" cy="105156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2377440"/>
            <a:ext cx="3017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Accessories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77840" y="2715768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</a:rPr>
              <a:t>Profit: $8.9M  |  Share: 27.5%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03520" y="3566160"/>
            <a:ext cx="3474720" cy="1051560"/>
          </a:xfrm>
          <a:prstGeom prst="rect">
            <a:avLst/>
          </a:prstGeom>
          <a:solidFill>
            <a:srgbClr val="2D2D44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3566160"/>
            <a:ext cx="164592" cy="105156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3611880"/>
            <a:ext cx="3017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Clothing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77840" y="3950208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</a:rPr>
              <a:t>Profit: $2.8M  |  Share: 8.8%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03520" y="466344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700"/>
                </a:solidFill>
              </a:rPr>
              <a:t>Total Profit: $32.2M — Bikes is the Most Profitable Category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Average Order Value by Category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7724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777240"/>
            <a:ext cx="3200400" cy="411480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868680"/>
            <a:ext cx="2926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806440" y="1417320"/>
            <a:ext cx="2926080" cy="960120"/>
          </a:xfrm>
          <a:prstGeom prst="rect">
            <a:avLst/>
          </a:prstGeom>
          <a:solidFill>
            <a:srgbClr val="2A2A45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444752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Bikes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97880" y="1719072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Avg: $1,650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97880" y="19659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DD"/>
                </a:solidFill>
              </a:rPr>
              <a:t>26x higher — premium segment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06440" y="2514600"/>
            <a:ext cx="2926080" cy="960120"/>
          </a:xfrm>
          <a:prstGeom prst="rect">
            <a:avLst/>
          </a:prstGeom>
          <a:solidFill>
            <a:srgbClr val="2A2A4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542032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Clothing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97880" y="2816352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Avg: $85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97880" y="30632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DD"/>
                </a:solidFill>
              </a:rPr>
              <a:t>Low-ticket, volume revenue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06440" y="3611880"/>
            <a:ext cx="2926080" cy="960120"/>
          </a:xfrm>
          <a:prstGeom prst="rect">
            <a:avLst/>
          </a:prstGeom>
          <a:solidFill>
            <a:srgbClr val="2A2A4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3639312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Accessories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97880" y="3913632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Avg: $63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897880" y="41605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DD"/>
                </a:solidFill>
              </a:rPr>
              <a:t>High-volume, low avg ticket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06440" y="457200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86FC"/>
                </a:solidFill>
              </a:rPr>
              <a:t>Overall Avg Revenue/Order: $63.60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Purchasing Behavior by Gender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7724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777240"/>
            <a:ext cx="3200400" cy="182880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822960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B86FC"/>
                </a:solidFill>
              </a:rPr>
              <a:t>Male Customers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06440" y="1188720"/>
            <a:ext cx="29260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Units Sold: 699,583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Share: 52.0%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Slightly higher purchase volume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2788920"/>
            <a:ext cx="3200400" cy="1828800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2834640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Female Customers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06440" y="3200400"/>
            <a:ext cx="29260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Units Sold: 645,733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Share: 48.0%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Nearly equal purchasing power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06440" y="41148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700"/>
                </a:solidFill>
              </a:rPr>
              <a:t>Both genders show nearly equal behavior — marketing should remain inclusive.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Age Group Revenue Contribution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31520"/>
          <a:ext cx="4754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822960"/>
            <a:ext cx="3474720" cy="91440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850392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40FB"/>
                </a:solidFill>
              </a:rPr>
              <a:t>Adults (35-64)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32120" y="1115568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$42.6M (49.9%)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32120" y="1371600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CCDD"/>
                </a:solidFill>
              </a:rPr>
              <a:t>Core revenue driver — primary target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94960" y="1847088"/>
            <a:ext cx="3474720" cy="91440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32120" y="1874520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40FB"/>
                </a:solidFill>
              </a:rPr>
              <a:t>Young Adults (25-34)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32120" y="2139696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$30.7M (35.9%)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32120" y="2395728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CCDD"/>
                </a:solidFill>
              </a:rPr>
              <a:t>High growth potential segment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94960" y="2871216"/>
            <a:ext cx="3474720" cy="91440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32120" y="2898648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40FB"/>
                </a:solidFill>
              </a:rPr>
              <a:t>Youth (&lt;25)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32120" y="3163824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$11.7M (13.7%)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32120" y="3419856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CCDD"/>
                </a:solidFill>
              </a:rPr>
              <a:t>Emerging — brand loyalty focus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94960" y="3895344"/>
            <a:ext cx="3474720" cy="91440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532120" y="3922776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40FB"/>
                </a:solidFill>
              </a:rPr>
              <a:t>Seniors (64+)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32120" y="4187952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$0.3M (0.4%)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32120" y="4443984"/>
            <a:ext cx="3200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CCDD"/>
                </a:solidFill>
              </a:rPr>
              <a:t>Niche — specialized products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Impact of Cost on Profitability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943600" y="777240"/>
            <a:ext cx="2926080" cy="4023360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82296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Cost-Profit Analysis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2651760" cy="914400"/>
          </a:xfrm>
          <a:prstGeom prst="rect">
            <a:avLst/>
          </a:prstGeom>
          <a:solidFill>
            <a:srgbClr val="2A2A45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39903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Bikes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166420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Cost: $39.2M | Profit: $20.5M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192024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Margin: 33.2%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2423160"/>
            <a:ext cx="2651760" cy="914400"/>
          </a:xfrm>
          <a:prstGeom prst="rect">
            <a:avLst/>
          </a:prstGeom>
          <a:solidFill>
            <a:srgbClr val="2A2A45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45059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Accessories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71576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Cost: $6.3M | Profit: $8.9M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297180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Margin: 58.6%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474720"/>
            <a:ext cx="2651760" cy="914400"/>
          </a:xfrm>
          <a:prstGeom prst="rect">
            <a:avLst/>
          </a:prstGeom>
          <a:solidFill>
            <a:srgbClr val="2A2A45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350215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Clothing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0" y="376732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DD"/>
                </a:solidFill>
              </a:rPr>
              <a:t>Cost: $7.6M | Profit: $2.8M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26480" y="40233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Margin: 33.9%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44348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B86FC"/>
                </a:solidFill>
              </a:rPr>
              <a:t>Accessories: Best ROI despite lower absolute profit</a:t>
            </a:r>
            <a:endParaRPr lang="en-US" sz="1000" dirty="0"/>
          </a:p>
        </p:txBody>
      </p:sp>
      <p:pic>
        <p:nvPicPr>
          <p:cNvPr id="20" name="Picture 19" descr="1772547795428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Category Performance Analysis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760720" y="914400"/>
          <a:ext cx="3200400" cy="22860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914400"/>
                <a:gridCol w="5486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Bikes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Accessories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Clothing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8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$61.8M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$15.1M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$8.4M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Profit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$20.5M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$8.9M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$2.8M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Profit Margin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33.2%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58.6%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33.9%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Units Sold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~200K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~1.05M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~90K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2D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760720" y="3383280"/>
            <a:ext cx="3200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700"/>
                </a:solidFill>
              </a:rPr>
              <a:t>Accessories have the highest profit margin (58.6%) despite lower revenue — strong cost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State-wise Revenue Performance by Country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46304" cy="12344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United States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</a:rPr>
              <a:t>Top States: California, Washington, Oregon — Top 3 states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123444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146304" cy="12344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32688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Australia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89888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</a:rPr>
              <a:t>Top States: New South Wales, Victoria, Queensland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123444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40280"/>
            <a:ext cx="146304" cy="12344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50008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United Kingdom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807208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</a:rPr>
              <a:t>Top States: England (London region leads)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206240" cy="123444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40280"/>
            <a:ext cx="146304" cy="12344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50008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Germany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</a:rPr>
              <a:t>Top States: Bayern, Brandenburg, Hessen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206240" cy="123444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146304" cy="12344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67328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</a:rPr>
              <a:t>Top States: Ile de France, Nord, Oise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06240" cy="1234440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57600"/>
            <a:ext cx="146304" cy="12344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67328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4224528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</a:rPr>
              <a:t>Top States: British Columbia, Ontario, Alberta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700"/>
                </a:solidFill>
              </a:rPr>
              <a:t>US leads in both total revenue and geographic distribution — most diverse market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 Dashboard — Page 1: Sales Analysis</a:t>
            </a:r>
            <a:endParaRPr lang="en-US" sz="2400" dirty="0"/>
          </a:p>
        </p:txBody>
      </p:sp>
      <p:pic>
        <p:nvPicPr>
          <p:cNvPr id="4" name="Image 0" descr="/mnt/user-data/uploads/1772532037241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841248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DD"/>
                </a:solidFill>
              </a:rPr>
              <a:t>Dashboard Page 1 — Mountain Bike Accessories Sales Analysis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 Dashboard — Page 2: KPI Business Growth</a:t>
            </a:r>
            <a:endParaRPr lang="en-US" sz="2400" dirty="0"/>
          </a:p>
        </p:txBody>
      </p:sp>
      <p:pic>
        <p:nvPicPr>
          <p:cNvPr id="4" name="Image 0" descr="/mnt/user-data/uploads/1772532118185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841248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DD"/>
                </a:solidFill>
              </a:rPr>
              <a:t>Dashboard Page 2 — Key Performance Indicators for Business Growth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40F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Business Insights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261872"/>
          </a:xfrm>
          <a:prstGeom prst="rect">
            <a:avLst/>
          </a:prstGeom>
          <a:solidFill>
            <a:srgbClr val="2D2D44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146304" cy="12618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9611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Revenue Focus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261872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Bikes generate 72% of revenue. Upselling premium bike models to existing customers can maximize returns.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06240" cy="1261872"/>
          </a:xfrm>
          <a:prstGeom prst="rect">
            <a:avLst/>
          </a:prstGeom>
          <a:solidFill>
            <a:srgbClr val="2D2D44"/>
          </a:solidFill>
          <a:ln w="12700">
            <a:solidFill>
              <a:srgbClr val="C2185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04672"/>
            <a:ext cx="146304" cy="126187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89611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Margin Opportunity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5192" y="1261872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Accessories yield 58.6% margin. Increasing accessories marketing &amp; bundling will improve profitability.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21992"/>
            <a:ext cx="4206240" cy="1261872"/>
          </a:xfrm>
          <a:prstGeom prst="rect">
            <a:avLst/>
          </a:prstGeom>
          <a:solidFill>
            <a:srgbClr val="2D2D44"/>
          </a:solidFill>
          <a:ln w="1270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21992"/>
            <a:ext cx="146304" cy="126187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1343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Geographic Expansion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2679192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Canada and France underperform vs. US/Australia. Targeted campaigns in these markets hold growth potential.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21992"/>
            <a:ext cx="4206240" cy="1261872"/>
          </a:xfrm>
          <a:prstGeom prst="rect">
            <a:avLst/>
          </a:prstGeom>
          <a:solidFill>
            <a:srgbClr val="2D2D44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21992"/>
            <a:ext cx="146304" cy="1261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31343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Demographics Strategy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2679192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Adults (35-64) are the core segment (50% revenue). Create loyalty programs for this key group.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4206240" cy="1261872"/>
          </a:xfrm>
          <a:prstGeom prst="rect">
            <a:avLst/>
          </a:prstGeom>
          <a:solidFill>
            <a:srgbClr val="2D2D44"/>
          </a:solidFill>
          <a:ln w="12700">
            <a:solidFill>
              <a:srgbClr val="AD145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39312"/>
            <a:ext cx="146304" cy="126187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73075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Gender Equity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" y="4096512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Near-equal male/female purchasing (52%/48%) — maintain gender-neutral product and marketing strategy.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39312"/>
            <a:ext cx="4206240" cy="1261872"/>
          </a:xfrm>
          <a:prstGeom prst="rect">
            <a:avLst/>
          </a:prstGeom>
          <a:solidFill>
            <a:srgbClr val="2D2D44"/>
          </a:solidFill>
          <a:ln w="12700">
            <a:solidFill>
              <a:srgbClr val="0079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39312"/>
            <a:ext cx="146304" cy="12618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73075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40FB"/>
                </a:solidFill>
              </a:rPr>
              <a:t>Underperformers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65192" y="4096512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Clothing has the lowest margin &amp; volume. Consider portfolio restructuring or aggressive cost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7B2D8B">
              <a:alpha val="25000"/>
            </a:srgbClr>
          </a:solidFill>
          <a:ln w="12700">
            <a:solidFill>
              <a:srgbClr val="7B2D8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C2185B">
              <a:alpha val="25000"/>
            </a:srgbClr>
          </a:solidFill>
          <a:ln w="12700">
            <a:solidFill>
              <a:srgbClr val="C2185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40080"/>
            <a:ext cx="7315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040FB"/>
                </a:solidFill>
              </a:rPr>
              <a:t>Mountain Bike Accessories Sales Analysis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828800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24912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$85.3M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DD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697480"/>
            <a:ext cx="1828800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2724912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37.8%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20040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DD"/>
                </a:solidFill>
              </a:rPr>
              <a:t>Profit Margin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1828800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724912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1.3M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DD"/>
                </a:solidFill>
              </a:rPr>
              <a:t>Units Sold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2697480"/>
            <a:ext cx="1828800" cy="914400"/>
          </a:xfrm>
          <a:prstGeom prst="rect">
            <a:avLst/>
          </a:prstGeom>
          <a:solidFill>
            <a:srgbClr val="7B2D8B"/>
          </a:solidFill>
          <a:ln w="12700">
            <a:solidFill>
              <a:srgbClr val="E040F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2724912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320040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DD"/>
                </a:solidFill>
              </a:rPr>
              <a:t>Countries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CCCDD"/>
                </a:solidFill>
              </a:rPr>
              <a:t>Powered by Power BI  |  Data-Driven Decision Making  |  Business Intelligence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</a:rPr>
              <a:t>Questions? Let's explore the data together.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.6,&quot;left&quot;:36,&quot;top&quot;:338.4,&quot;width&quot;:658.8}"/>
</p:tagLst>
</file>

<file path=ppt/tags/tag2.xml><?xml version="1.0" encoding="utf-8"?>
<p:tagLst xmlns:p="http://schemas.openxmlformats.org/presentationml/2006/main">
  <p:tag name="KSO_WM_DIAGRAM_VIRTUALLY_FRAME" val="{&quot;height&quot;:39.6,&quot;left&quot;:36,&quot;top&quot;:338.4,&quot;width&quot;:658.8}"/>
</p:tagLst>
</file>

<file path=ppt/tags/tag3.xml><?xml version="1.0" encoding="utf-8"?>
<p:tagLst xmlns:p="http://schemas.openxmlformats.org/presentationml/2006/main">
  <p:tag name="KSO_WM_DIAGRAM_VIRTUALLY_FRAME" val="{&quot;height&quot;:39.6,&quot;left&quot;:36,&quot;top&quot;:338.4,&quot;width&quot;:658.8}"/>
</p:tagLst>
</file>

<file path=ppt/tags/tag4.xml><?xml version="1.0" encoding="utf-8"?>
<p:tagLst xmlns:p="http://schemas.openxmlformats.org/presentationml/2006/main">
  <p:tag name="KSO_WM_DIAGRAM_VIRTUALLY_FRAME" val="{&quot;height&quot;:39.6,&quot;left&quot;:36,&quot;top&quot;:338.4,&quot;width&quot;:658.8}"/>
</p:tagLst>
</file>

<file path=ppt/tags/tag5.xml><?xml version="1.0" encoding="utf-8"?>
<p:tagLst xmlns:p="http://schemas.openxmlformats.org/presentationml/2006/main">
  <p:tag name="KSO_WM_DIAGRAM_VIRTUALLY_FRAME" val="{&quot;height&quot;:39.6,&quot;left&quot;:36,&quot;top&quot;:338.4,&quot;width&quot;:658.8}"/>
</p:tagLst>
</file>

<file path=ppt/tags/tag6.xml><?xml version="1.0" encoding="utf-8"?>
<p:tagLst xmlns:p="http://schemas.openxmlformats.org/presentationml/2006/main">
  <p:tag name="KSO_WM_DIAGRAM_VIRTUALLY_FRAME" val="{&quot;height&quot;:39.6,&quot;left&quot;:36,&quot;top&quot;:338.4,&quot;width&quot;:658.8}"/>
</p:tagLst>
</file>

<file path=ppt/tags/tag7.xml><?xml version="1.0" encoding="utf-8"?>
<p:tagLst xmlns:p="http://schemas.openxmlformats.org/presentationml/2006/main">
  <p:tag name="KSO_WM_DIAGRAM_VIRTUALLY_FRAME" val="{&quot;height&quot;:39.6,&quot;left&quot;:36,&quot;top&quot;:338.4,&quot;width&quot;:658.8}"/>
</p:tagLst>
</file>

<file path=ppt/tags/tag8.xml><?xml version="1.0" encoding="utf-8"?>
<p:tagLst xmlns:p="http://schemas.openxmlformats.org/presentationml/2006/main">
  <p:tag name="KSO_WM_DIAGRAM_VIRTUALLY_FRAME" val="{&quot;height&quot;:39.6,&quot;left&quot;:36,&quot;top&quot;:338.4,&quot;width&quot;:658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6590</Words>
  <Application>WPS Presentation</Application>
  <PresentationFormat>On-screen Show (16:9)</PresentationFormat>
  <Paragraphs>572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Mountain Bike Accessories Sales Analysis</dc:title>
  <dc:creator>PptxGenJS</dc:creator>
  <dc:subject>PptxGenJS Presentation</dc:subject>
  <cp:lastModifiedBy>Shivaa</cp:lastModifiedBy>
  <cp:revision>6</cp:revision>
  <dcterms:created xsi:type="dcterms:W3CDTF">2026-03-03T10:23:00Z</dcterms:created>
  <dcterms:modified xsi:type="dcterms:W3CDTF">2026-03-03T14:45:58Z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7C9AB13B93F341408F3B1B7A1AF12AF6_12</vt:lpwstr>
  </property>
  <property fmtid="{D5CDD505-2E9C-101B-9397-08002B2CF9AE}" pid="3" name="KSOProductBuildVer">
    <vt:lpwstr>1033-12.2.0.21931</vt:lpwstr>
  </property>
</Properties>
</file>